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1 — Opening. Greet the evaluator. State the team, course, and title. Say in one sentence: we treat a traffic light as a sequential decision agent, not as a fixed timer. Mention that Component 2 uses the same case. Pause, then hand the problem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1. Walk the agenda quickly. Emphasise that the same MDP is used in the micro-project. Do not spend time on software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1. Explain North–South versus East–West as two phases. Stress delayed cost: a greedy green can starve the cross street until overflow. Long-term objective is discounted return, not instantaneous discharge. ~90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1 closing this block. Contrast Webster and actuation with value-based control. Admit we still need a conflict monitor — RL is for the split, not for safety hardware. Hand over to Member 2 for the MDP.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2. Point at N/S/E/W. State the explicit assumption: synthetic Poisson demand, not a named corridor. Occupancy cap of five keeps the problem tabular (|S| = 6,480).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2. Justify each state variable in one line. Read the reward equation slowly. Mention that throughput is not double-counted: serving cars reduces future occupancy.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2. This slide is the rubric checklist — say each label out loud. Note the honest gaps: episodic training versus continuing operations; fully observed sim versus noisy loops. Hand to Member 3 for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3. Derive the update in words: target is r plus discounted best next action. Stress deployed policy is greedy, so off-policy is the right default. Mention SARSA would be preferred if exploration stayed on in the cabinet.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3. One sentence each. Quote the idea that stability ≠ quality: Q-learning hit the rolling-mean test at episode 248 but Dyna-Q’s last-100 mean was better (about −811 versus −859). Do not read the full table; that lives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3. Trace the arrows: environment to state to ε-greedy action to reward and next queues, then the TD/Dyna update. Mention that a shielded Safe-RL agent would insert a filter between agent and action. Hand to Member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4. Returns are negative because reward is a cost. All four curves rise (become less negative). Dyna-Q is on top of the smoothed overlay. Variance remains because arrivals are random — that is physics, not a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4. Left: greedy evaluation return. Right: last-100 training mean. Same ranking. This is the evidence slide; keep it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4. Distinguish shield (instant illegal actions) from Lagrange (average costs). Give one concrete example: forbid KEEP when an approach is at capacity and the other phase could serve it. Tie back to the min-green already in the simulator.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4. Academically safer to list assumptions than to hide them. Mention the self-recorded video is a team task after this slide deck is frozen.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4. Close: problem, formulation, result, innovation. Thank the examiner. Invite questions. Members 1–3 should be ready on environment, characteristics, and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members: smile, stop, wait for questions. Do not ad-lib new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Adaptive Traffic Signal Control
using Reinforcement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D6E3F0"/>
                </a:solidFill>
                <a:latin typeface="Calibri"/>
              </a:rPr>
              <a:t>CIA-3  ·  Component 1 Case Study  ·  Course: Reinforcement Learning
Team: Member 1  ·  Member 2  ·  Member 3  ·  Member 4
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Problem: isolated intersection, keep-or-switch control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Why it is sequential / real-time — and why rules are not enough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MDP: state, action, reward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Problem characteristics (Unit 4/5 checklist)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Base algorithm: Q-learning, and the four TD variants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Workflow loop + Component 2 headline result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Innovation: Safe RL shielding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Conclusion and what the video could not include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A.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Domain: Transportation — one four-approach urban intersection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Agent: the signal controller (cabinet logic)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Decision every tick: KEEP current phase or SWITCH to the other phase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Long-term objective: minimise waiting + spillback over a whole peak window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Not a classification problem: today’s green changes tomorrow’s queues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Why sequential, real-time — and why not only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Sequential: residual queue + random arrivals = next state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Real-time: an action is required every control interval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Fixed-time (Webster) assumes stationary mean flows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Gap-based actuation is reactive and myopic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Hand-tuned thresholds do not track a mid-peak directional flip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RL learns a closed-loop mapping from occupancy patterns to phase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Environment abstraction</a:t>
            </a:r>
          </a:p>
        </p:txBody>
      </p:sp>
      <p:pic>
        <p:nvPicPr>
          <p:cNvPr id="3" name="Picture 2" descr="intersection_ske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12064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Gridworld-style lane cells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Phase 0: NS green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Phase 1: EW green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Poisson arrivals (synthetic)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Min-green lock = 4 steps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Assumption: no real detectors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B. State, action, reward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State s = (qN, qS, qE, qW, phase, t_green)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Queues: congestion is the primary signal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Phase: discharge capability depends on who is green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Timer: so the agent knows when a switch is legal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Action (discrete): 0 keep, 1 switch — ignored if min-green not met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Reward: R = −Σq − 8·blocked − 0.35·switched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Negative: waiting, spillback, chatter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Positive: returns nearer to zero (short queues, no overflow)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C. RL problem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Episodic — T = 120 step peak window (field would be continuing)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Dynamic — arrival means drift (NS-heavy → more EW-heavy)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Stochastic — Poisson arrivals + random stalls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Fully observed in the simulator (field detectors → POMDP later)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Discrete finite S and A  |  |S|=6480, |A|=2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Simulation-based online TD  |  long-term discounted objective γ=0.95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D. Base algorithm — Q-learning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Why not DP?  Transition kernel P is unknown (and time-varying)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Why not Monte Carlo?  120-step wait before the first update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Why TD?  Bootstrap every tick — matches real-time control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Why off-policy Q-learning?  Train with ε-greedy, deploy greedy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Update:  Q(s,a) ← Q(s,a) + α[R + γ max_a' Q(s',a') − Q(s,a)]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α=0.12,  γ=0.95,  ε: 1.0 → 0.05 over 1400 episodes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Four connected TD methods (Component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SARSA — on-policy; target uses the action actually taken next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Q-learning — off-policy; target uses max next action-value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Expected SARSA — on-policy expected target; lower variance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Dyna-Q — Q-learning + learned model + 8 planning updates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Headline (real runs): Dyna-Q best late return and greedy eval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Q-learning looked ‘fastest’ to plateau but at a weaker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E. RL workflow</a:t>
            </a:r>
          </a:p>
        </p:txBody>
      </p:sp>
      <p:pic>
        <p:nvPicPr>
          <p:cNvPr id="3" name="Picture 2" descr="r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64423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Learning curves (actual training, not mock-ups)</a:t>
            </a:r>
          </a:p>
        </p:txBody>
      </p:sp>
      <p:pic>
        <p:nvPicPr>
          <p:cNvPr id="3" name="Picture 2" descr="reward_vs_episode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43000"/>
            <a:ext cx="987552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Evaluation snapshot</a:t>
            </a:r>
          </a:p>
        </p:txBody>
      </p:sp>
      <p:pic>
        <p:nvPicPr>
          <p:cNvPr id="3" name="Picture 2" descr="bar_policy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669280" cy="3401568"/>
          </a:xfrm>
          <a:prstGeom prst="rect">
            <a:avLst/>
          </a:prstGeom>
        </p:spPr>
      </p:pic>
      <p:pic>
        <p:nvPicPr>
          <p:cNvPr id="4" name="Picture 3" descr="bar_average_re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669280" cy="3401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F. Innovation — Safe Reinforcement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Average return is not a municipal SLA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Hard shield A_safe(s): min green, max red, spillback veto, pedestrian lock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Agent maximises Q only inside the safe set (projection, not a finite penalty)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Optional Lagrangian cost for long-run wait-time frequency constraints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Fits this case: keep/switch chatter and directional greed are the failure modes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Multi-agent corridors and digital twins come after the shield, not 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Assumptions we want the examiner to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Synthetic Poisson demand — no city loop-detector log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Two phases only; no protected lefts; no geometric yellow interval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Perfect queue observation in sim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Occupancy clipped at 5 vehicles / approach (tabular design choice)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One seed per algorithm — ranking is indicative, not a 30-seed test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Video of this PPT must be recorded by the four members (not generated here)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Signal control is a real-time sequential MDP, not one-shot classification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Tabular keep/switch MDP is enough to compare Unit 4/5 TD methods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Base algorithm: Q-learning; strongest implemented variant: Dyna-Q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Read ‘time to stability’ together with asymptotic return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Safe RL shielding is the responsible extension before any field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Thank you
Questions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D6E3F0"/>
                </a:solidFill>
                <a:latin typeface="Calibri"/>
              </a:rPr>
              <a:t>Member 1  ·  Member 2  ·  Member 3  ·  Member 4
Replace placeholders with official names before submission.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