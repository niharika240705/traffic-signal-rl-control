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121D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50392" cy="1371600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" y="914400"/>
            <a:ext cx="438912" cy="43891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132588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28700" y="1737360"/>
            <a:ext cx="438912" cy="438912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CIA-3 · COMPONENT 1 &amp; 2 CASE STUDY  |  REINFORCEMENT LEARNING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Traffic Signal Control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Reinforcement Learning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Formulating an isolated intersection as a Markov Decision Process, and benchmarking four temporal-difference control algorithms.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5477256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5733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Aarnav Sabherwal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9050">
            <a:solidFill>
              <a:srgbClr val="3C6E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5477256"/>
            <a:ext cx="201168" cy="201168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58768" y="5733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Raj Dhar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3408" y="5477256"/>
            <a:ext cx="201168" cy="20116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5733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Singh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9050">
            <a:solidFill>
              <a:srgbClr val="4C9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28048" y="5477256"/>
            <a:ext cx="201168" cy="201168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28048" y="5733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Reinforcement Learning   | 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&amp; Structure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76022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17602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709928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why classical rules fail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89720" y="193395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9339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Aarnav Sabherwal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52928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012948"/>
            <a:ext cx="731520" cy="731520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0129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962656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formulation: state, action, reward, characteristics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189720" y="31866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C6E7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89720" y="31866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Raj Dhar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105656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4265676"/>
            <a:ext cx="731520" cy="7315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2656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4215384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TD algorithms: SARSA, Q-learning, Expected SARSA, Dyna-Q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189720" y="443941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89720" y="44394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Singh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58384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" y="5518404"/>
            <a:ext cx="731520" cy="73152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55184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5468112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results, Safe RL innovation &amp; conclusion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9189720" y="56921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C9F7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89720" y="56921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Traffic Signal Control — RL Case Study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FRAMING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Aarnav Sabherwal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16550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011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Transportation Systems — control of an isolated urban intersection.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32095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agent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566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controller cabinet. At every short tick it decides: KEEP the current green phase, or SWITCH to the opposing phase.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47640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nature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1206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have delayed consequences — clearing North-South now can create queued spillback on East-West minutes later.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47548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766560" y="1673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4-WAY INTERSECTION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18220" y="2400300"/>
            <a:ext cx="1051560" cy="3291840"/>
          </a:xfrm>
          <a:prstGeom prst="rect">
            <a:avLst/>
          </a:prstGeom>
          <a:solidFill>
            <a:srgbClr val="D7DCE2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3520440"/>
            <a:ext cx="3291840" cy="1051560"/>
          </a:xfrm>
          <a:prstGeom prst="rect">
            <a:avLst/>
          </a:prstGeom>
          <a:solidFill>
            <a:srgbClr val="D7DCE2"/>
          </a:solidFill>
          <a:ln/>
        </p:spPr>
      </p:sp>
      <p:sp>
        <p:nvSpPr>
          <p:cNvPr id="24" name="Shape 22"/>
          <p:cNvSpPr/>
          <p:nvPr/>
        </p:nvSpPr>
        <p:spPr>
          <a:xfrm>
            <a:off x="8618220" y="3520440"/>
            <a:ext cx="1051560" cy="10515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2400300"/>
            <a:ext cx="0" cy="112014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00" y="4572000"/>
            <a:ext cx="0" cy="112014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498080" y="4046220"/>
            <a:ext cx="11201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669780" y="4046220"/>
            <a:ext cx="11201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8869680" y="20802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57652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9090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927080" y="39090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27948" y="2537460"/>
            <a:ext cx="832104" cy="182880"/>
          </a:xfrm>
          <a:prstGeom prst="roundRect">
            <a:avLst>
              <a:gd name="adj" fmla="val 20000"/>
            </a:avLst>
          </a:prstGeom>
          <a:solidFill>
            <a:srgbClr val="3C6E71"/>
          </a:solidFill>
          <a:ln/>
        </p:spPr>
      </p:sp>
      <p:sp>
        <p:nvSpPr>
          <p:cNvPr id="34" name="Shape 32"/>
          <p:cNvSpPr/>
          <p:nvPr/>
        </p:nvSpPr>
        <p:spPr>
          <a:xfrm>
            <a:off x="8727948" y="2830068"/>
            <a:ext cx="832104" cy="182880"/>
          </a:xfrm>
          <a:prstGeom prst="roundRect">
            <a:avLst>
              <a:gd name="adj" fmla="val 20000"/>
            </a:avLst>
          </a:prstGeom>
          <a:solidFill>
            <a:srgbClr val="3C6E71"/>
          </a:solidFill>
          <a:ln/>
        </p:spPr>
      </p:sp>
      <p:sp>
        <p:nvSpPr>
          <p:cNvPr id="35" name="Shape 33"/>
          <p:cNvSpPr/>
          <p:nvPr/>
        </p:nvSpPr>
        <p:spPr>
          <a:xfrm>
            <a:off x="8727948" y="3122676"/>
            <a:ext cx="832104" cy="182880"/>
          </a:xfrm>
          <a:prstGeom prst="roundRect">
            <a:avLst>
              <a:gd name="adj" fmla="val 20000"/>
            </a:avLst>
          </a:prstGeom>
          <a:solidFill>
            <a:srgbClr val="3C6E71"/>
          </a:solidFill>
          <a:ln/>
        </p:spPr>
      </p:sp>
      <p:sp>
        <p:nvSpPr>
          <p:cNvPr id="36" name="Shape 34"/>
          <p:cNvSpPr/>
          <p:nvPr/>
        </p:nvSpPr>
        <p:spPr>
          <a:xfrm>
            <a:off x="7635240" y="3630168"/>
            <a:ext cx="182880" cy="832104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/>
        </p:spPr>
      </p:sp>
      <p:sp>
        <p:nvSpPr>
          <p:cNvPr id="37" name="Shape 35"/>
          <p:cNvSpPr/>
          <p:nvPr/>
        </p:nvSpPr>
        <p:spPr>
          <a:xfrm>
            <a:off x="7927848" y="3630168"/>
            <a:ext cx="182880" cy="832104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0456" y="3630168"/>
            <a:ext cx="182880" cy="832104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49440" y="5623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North–South green      </a:t>
            </a:r>
            <a:pPr algn="ctr" indent="0" marL="0"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East–West green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Problem Definition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FRAMING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Classical Rules Fall Short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Aarnav Sabherwal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1810512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331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Fixed-Time (Webster)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34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static, stationary traffic flow — cannot react to non-stationary demand bursts.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53712" y="1810512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5371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331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Actuated (Vehicle Gap)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834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green as long as cars cross the sensor — greedy, and starves the competing approach.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155448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11312" y="1810512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1131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2331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Heuristics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834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hand-tuned delta and collapses when the peak direction reverses mid-day.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10744200" cy="1417320"/>
          </a:xfrm>
          <a:prstGeom prst="roundRect">
            <a:avLst>
              <a:gd name="adj" fmla="val 580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2688" y="4636008"/>
            <a:ext cx="365760" cy="3657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2688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RL advantage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4910328"/>
            <a:ext cx="9555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learns a closed-loop mapping from occupancy states directly to keep-or-switch decisions, from interaction — no hand-tuned thresholds, no stationarity assumption. It replaces the split decision, not the conflict monitor.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Problem Definition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MDP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Abstraction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3C6E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Raj Dhar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16733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 QUEUES — GRIDWORLD-STYLE CELLS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4864608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4425696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3986784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3547872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310896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53766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62356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78608" y="4864608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8608" y="4425696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3986784"/>
            <a:ext cx="566928" cy="384048"/>
          </a:xfrm>
          <a:prstGeom prst="roundRect">
            <a:avLst>
              <a:gd name="adj" fmla="val 9524"/>
            </a:avLst>
          </a:prstGeom>
          <a:solidFill>
            <a:srgbClr val="3C6E71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8608" y="3547872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310896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41448" y="53766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441448" y="562356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31336" y="4864608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1336" y="4425696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31336" y="3986784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31336" y="3547872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31336" y="310896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94176" y="53766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94176" y="562356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84064" y="4864608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84064" y="4425696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3986784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84064" y="3547872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84064" y="310896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D64550"/>
          </a:solidFill>
          <a:ln w="9525">
            <a:solidFill>
              <a:srgbClr val="C7CE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46904" y="53766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946904" y="562356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2075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= 5 vehicles per lane. Occupancy above cap is a blocked / spillback arrival.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92240" y="16093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48272" y="150876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4-way geometry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748272" y="1828800"/>
            <a:ext cx="4773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= North–South green, Phase 1 = East–West green.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92240" y="277977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748272" y="267919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Poisson demand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748272" y="2999232"/>
            <a:ext cx="4773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loop-detector traces were available, so arrivals are Poisson — North–South heavier early in the peak, East–West heavier later.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92240" y="395020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748272" y="384962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Minimum-green lock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748272" y="4169664"/>
            <a:ext cx="4773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is illegal until a minimum green of 4 steps has elapsed — the lock is already built into the environment.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92240" y="51206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748272" y="502005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assumption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748272" y="5340096"/>
            <a:ext cx="4773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synthetic demand profile as a stated assumption, not a field measurement.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MDP Formulation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MDP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State, Action &amp; Reward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3C6E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Raj Dhar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167335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6,480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queues × phase × timer)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15087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07992" y="167335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SWITCH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0144" y="15087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193024" y="167335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steps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green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switch can fire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107990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3547872"/>
            <a:ext cx="102504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(q_N, q_S, q_E, q_W, φ, t_green)   —   queues describe congestion, φ (phase) tells us who can discharge, t_green tells us whether a switch will actually fire.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690872"/>
            <a:ext cx="10799064" cy="1417320"/>
          </a:xfrm>
          <a:prstGeom prst="roundRect">
            <a:avLst>
              <a:gd name="adj" fmla="val 5806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02352"/>
            <a:ext cx="10250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− Σ qᵢ   −   8 · n(blocked)   −   0.35 · 𝟙(switch)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605272"/>
            <a:ext cx="1025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total queue backlog, applies an 8× penalty on blocked/spillback arrivals, and a small cost for signal chatter. “Good” performance is a return closer to zero — no separate throughput bonus, since serving a car already reduces tomorrow's occupancy.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MDP Formulation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MDP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Characteristics — Unit 4/5 Checklist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3C6E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Raj Dhar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6002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1837944"/>
            <a:ext cx="384048" cy="384048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Episodic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313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120-step peak windows represent one control interval.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16002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1837944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4515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313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means drift — North-South heavy early, East-West heavy later.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16002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94192" y="183794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9419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313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 noise plus an 8% random vehicle stall probability.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3375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6112" y="3575304"/>
            <a:ext cx="384048" cy="384048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observed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0507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observable inside the simulator (would be partial in the field).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89120" y="33375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3575304"/>
            <a:ext cx="384048" cy="384048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4515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40507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set |S| = 6,480 and finite action set |A| = 2.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33375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94192" y="3575304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9419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TD control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0507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Tabular, simulation-based learning with discount γ = 0.95.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MDP Formulation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ALGORITHMS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Algorithm — Q-Learning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Singh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71700" y="1773936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7170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359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7614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transition kernel P(s'|s,a) — unknown for real-world traffic.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155448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20740" y="1773936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2074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359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7614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until the end of all 120 steps to learn from a bad switch made at step 10.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155448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69780" y="1773936"/>
            <a:ext cx="457200" cy="45720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6978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359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One-step TD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27614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and updates every tick — matches real-time signal control.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31920"/>
            <a:ext cx="11018520" cy="1691640"/>
          </a:xfrm>
          <a:prstGeom prst="roundRect">
            <a:avLst>
              <a:gd name="adj" fmla="val 4865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44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UPDATE RULE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37083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Q(s,a)  ←  Q(s,a)  +  α [ R + γ·max over a' of Q(s',a')  −  Q(s,a) ]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864608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 optimal greedy target while behaving with an exploratory ε-greedy policy in simulation — we deploy a greedy cabinet, so we learn greedy action-values.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41080" y="480060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5102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92640" y="480060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9264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5102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744200" y="480060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74420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744200" y="5102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→ 0.05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Algorithms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ALGORITHMS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TD Variants Compared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Singh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554480"/>
            <a:ext cx="2670048" cy="502920"/>
          </a:xfrm>
          <a:prstGeom prst="rect">
            <a:avLst/>
          </a:prstGeom>
          <a:solidFill>
            <a:srgbClr val="3C6E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15544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560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on the action actually taken next, A' ~ πε(S').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93008" y="155448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93008" y="1554480"/>
            <a:ext cx="2670048" cy="50292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30168" y="15544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560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on the max over a' of Q(S',a') — the greedy next action-value.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45936" y="155448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45936" y="1554480"/>
            <a:ext cx="2670048" cy="5029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83096" y="15544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SARSA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On-policy, expected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47104" y="2560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over Σ πε(a|S') Q(S',a) — cuts variance from exploration.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98864" y="155448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98864" y="1554480"/>
            <a:ext cx="2670048" cy="502920"/>
          </a:xfrm>
          <a:prstGeom prst="rect">
            <a:avLst/>
          </a:prstGeom>
          <a:solidFill>
            <a:srgbClr val="4C9F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36024" y="15544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Dyna-Q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36024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400032" y="2560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learned model plus 8 simulated planning updates per real step.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11228832" cy="1051560"/>
          </a:xfrm>
          <a:prstGeom prst="roundRect">
            <a:avLst>
              <a:gd name="adj" fmla="val 782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4919472"/>
            <a:ext cx="10680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result:  </a:t>
            </a:r>
            <a:pPr indent="0" marL="0">
              <a:buNone/>
            </a:pPr>
            <a:r>
              <a:rPr lang="en-US" sz="13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training runs, Dyna-Q had the best late return and the best greedy evaluation. Q-learning looked fastest to ‘stability’ but plateaued at a weaker policy — stability is not the same as quality.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Algorithms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ALGORITHMS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&amp; Learning Workflow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Singh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1572768" cy="123444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  <a:effectLst>
            <a:outerShdw sx="100000" sy="100000" kx="0" ky="0" algn="bl" rotWithShape="0" blurRad="635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21305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791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queues, phase, timer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58568" y="2482596"/>
            <a:ext cx="256032" cy="201168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1965960"/>
            <a:ext cx="1572768" cy="1234440"/>
          </a:xfrm>
          <a:prstGeom prst="roundRect">
            <a:avLst>
              <a:gd name="adj" fmla="val 6667"/>
            </a:avLst>
          </a:prstGeom>
          <a:solidFill>
            <a:srgbClr val="3C6E71"/>
          </a:solidFill>
          <a:ln/>
          <a:effectLst>
            <a:outerShdw sx="100000" sy="100000" kx="0" ky="0" algn="bl" rotWithShape="0" blurRad="63500" dist="25400" dir="5400000">
              <a:srgbClr val="9BA7B4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606040" y="21305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6791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state 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87368" y="2482596"/>
            <a:ext cx="256032" cy="201168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3400" y="1965960"/>
            <a:ext cx="1572768" cy="123444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/>
          <a:effectLst>
            <a:outerShdw sx="100000" sy="100000" kx="0" ky="0" algn="bl" rotWithShape="0" blurRad="63500" dist="25400" dir="5400000">
              <a:srgbClr val="9BA7B4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434840" y="21305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26791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switch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16168" y="2482596"/>
            <a:ext cx="256032" cy="201168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965960"/>
            <a:ext cx="1572768" cy="1234440"/>
          </a:xfrm>
          <a:prstGeom prst="roundRect">
            <a:avLst>
              <a:gd name="adj" fmla="val 6667"/>
            </a:avLst>
          </a:prstGeom>
          <a:solidFill>
            <a:srgbClr val="D64550"/>
          </a:solidFill>
          <a:ln/>
          <a:effectLst>
            <a:outerShdw sx="100000" sy="100000" kx="0" ky="0" algn="bl" rotWithShape="0" blurRad="63500" dist="25400" dir="5400000">
              <a:srgbClr val="9BA7B4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63640" y="21305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6791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illegal actions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44968" y="2482596"/>
            <a:ext cx="256032" cy="201168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1965960"/>
            <a:ext cx="1572768" cy="1234440"/>
          </a:xfrm>
          <a:prstGeom prst="roundRect">
            <a:avLst>
              <a:gd name="adj" fmla="val 6667"/>
            </a:avLst>
          </a:prstGeom>
          <a:solidFill>
            <a:srgbClr val="3C6E71"/>
          </a:solidFill>
          <a:ln/>
          <a:effectLst>
            <a:outerShdw sx="100000" sy="100000" kx="0" ky="0" algn="bl" rotWithShape="0" blurRad="63500" dist="25400" dir="5400000">
              <a:srgbClr val="9BA7B4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092440" y="21305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Arrivals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26791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updates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73768" y="2482596"/>
            <a:ext cx="256032" cy="201168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31" name="Shape 29"/>
          <p:cNvSpPr/>
          <p:nvPr/>
        </p:nvSpPr>
        <p:spPr>
          <a:xfrm>
            <a:off x="9829800" y="1965960"/>
            <a:ext cx="1572768" cy="1234440"/>
          </a:xfrm>
          <a:prstGeom prst="roundRect">
            <a:avLst>
              <a:gd name="adj" fmla="val 6667"/>
            </a:avLst>
          </a:prstGeom>
          <a:solidFill>
            <a:srgbClr val="4C9F70"/>
          </a:solidFill>
          <a:ln/>
          <a:effectLst>
            <a:outerShdw sx="100000" sy="100000" kx="0" ky="0" algn="bl" rotWithShape="0" blurRad="63500" dist="25400" dir="5400000">
              <a:srgbClr val="9BA7B4">
                <a:alpha val="3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921240" y="21305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Q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26791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/ Dyna-Q writes table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616184" y="3200400"/>
            <a:ext cx="0" cy="50292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72184" y="3703320"/>
            <a:ext cx="91440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72184" y="3200400"/>
            <a:ext cx="0" cy="393192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99032" y="3182112"/>
            <a:ext cx="146304" cy="146304"/>
          </a:xfrm>
          <a:prstGeom prst="triangle">
            <a:avLst/>
          </a:prstGeom>
          <a:solidFill>
            <a:srgbClr val="5C6B7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746504" y="3776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back into the next control tick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" y="4206240"/>
            <a:ext cx="108356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60120" y="4389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&amp; next state feed back into the update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477316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produces queues; the agent encodes the state and acts keep or switch.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shield sits between the agent and the environment in the Safe-RL extension, so illegal actions never execute.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discharge and arrive, producing a reward and next state, which the TD or Dyna-Q update writes into the Q-table.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Algorithms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RESULTS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Curves &amp; Training Progress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4C9F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417320"/>
            <a:ext cx="10881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pic>
        <p:nvPicPr>
          <p:cNvPr id="12" name="Image 0" descr="/home/claude/work/chart_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36192"/>
            <a:ext cx="10607040" cy="35387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curves are drawn from the team's actual NumPy training runs, not artist's impressions. Returns are negative because reward is formulated as a cost; residual jitter reflects Poisson demand, not a failed implementation.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Results &amp; Innovation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RESULTS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Comparison &amp; Ranking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4C9F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52120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pic>
        <p:nvPicPr>
          <p:cNvPr id="12" name="Image 0" descr="/home/claude/work/chart_eval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937760" cy="3429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17920" y="1691640"/>
            <a:ext cx="52120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pic>
        <p:nvPicPr>
          <p:cNvPr id="14" name="Image 1" descr="/home/claude/work/chart_train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4937760" cy="3429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553212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14400" y="5641848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stability paradox:  </a:t>
            </a:r>
            <a:pPr indent="0" marL="0">
              <a:buNone/>
            </a:pPr>
            <a:r>
              <a:rPr lang="en-US" sz="12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stabilized fast (~episode 248) but plateaued at a weaker policy. Dyna-Q kept refining until ~episode 678 and won on both metrics — stability is not the same as quality.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Results &amp; Innovation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RESULTS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Dyna-Q Won — Algorithmic Analysis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4C9F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6002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overcomes sparsity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10896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6,480 states and 120 steps per episode, real experience is scarce. Dyna-Q's 8 planning updates per tick propagate rewards backward far more efficiently.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16002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74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SARSA cuts noise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10896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over the policy's next action-values, instead of sampling one, reduces variance from exploratory actions relative to plain SARSA.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16002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Q-learning's maximization bias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10896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stochastic environment, taking the max over a of Q(s',a) systematically overestimates values, causing premature convergence to a weaker policy.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Results &amp; Innovation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INNOVATION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Layer — Safe Reinforcement Learning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4C9F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69164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3C6E7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8196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167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Q(s,a)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029968"/>
            <a:ext cx="914400" cy="23774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55448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D64550"/>
          </a:solidFill>
          <a:ln/>
          <a:effectLst>
            <a:outerShdw sx="100000" sy="100000" kx="0" ky="0" algn="bl" rotWithShape="0" blurRad="76200" dist="25400" dir="5400000">
              <a:srgbClr val="9B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160520" y="1673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Shield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A_safe(s) — only safe actions pass through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95160" y="2029968"/>
            <a:ext cx="914400" cy="237744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6916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B2A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18196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167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cabinet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2016" y="32461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4896" y="3410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green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64896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rapid flipping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9224" y="32461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572104" y="3410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red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572104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starvation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6432" y="32461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79312" y="3410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Pedestrian lock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379312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guaranteed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03640" y="32461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86520" y="3410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Spillback veto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18652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 bad switch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2016" y="4709160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9BA7B4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56336" y="4818888"/>
            <a:ext cx="104790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is not a municipal SLA.  </a:t>
            </a:r>
            <a:pPr indent="0" marL="0">
              <a:buNone/>
            </a:pPr>
            <a:r>
              <a:rPr lang="en-US" sz="12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may only maximize Q inside the safe set; a Lagrange multiplier can add long-run wait-time frequency constraints on top. Multi-agent corridors come after safety.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Results &amp; Innovation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17480" cy="512064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4" name="Shape 2"/>
          <p:cNvSpPr/>
          <p:nvPr/>
        </p:nvSpPr>
        <p:spPr>
          <a:xfrm>
            <a:off x="534010" y="343814"/>
            <a:ext cx="163860" cy="1638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Shape 3"/>
          <p:cNvSpPr/>
          <p:nvPr/>
        </p:nvSpPr>
        <p:spPr>
          <a:xfrm>
            <a:off x="534010" y="497434"/>
            <a:ext cx="163860" cy="1638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534010" y="651053"/>
            <a:ext cx="163860" cy="1638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73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INTEGRITY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Assumptions &amp; Integrity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281160" y="365760"/>
            <a:ext cx="2450592" cy="402336"/>
          </a:xfrm>
          <a:prstGeom prst="roundRect">
            <a:avLst>
              <a:gd name="adj" fmla="val 18182"/>
            </a:avLst>
          </a:prstGeom>
          <a:solidFill>
            <a:srgbClr val="4C9F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81160" y="3657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508760"/>
            <a:ext cx="10515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1700784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150876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Poisson arrivals — not an empirical field loop-detector dataset.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2258568"/>
            <a:ext cx="10515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2450592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225856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queue occupancy capped at 5 vehicles per approach.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008376"/>
            <a:ext cx="10515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20040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8992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00837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control only; no protected left turns modeled.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3758184"/>
            <a:ext cx="10515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950208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78992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75818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designated random seed per algorithm — ranking is indicative, not a 30-seed statistical test.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2960" y="4507992"/>
            <a:ext cx="10515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4700016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78992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450799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Perfect, fully-observed queue state inside the simulator (would be partial in the field).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maintain academic transparency: these constraints validate the TD algorithms cleanly, before introducing deep RL or SUMO co-simulation. This video was recorded by the four team members — no generated lecture video is included in the fileset.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Results &amp; Innovation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51495" cy="566928"/>
          </a:xfrm>
          <a:prstGeom prst="roundRect">
            <a:avLst>
              <a:gd name="adj" fmla="val 19355"/>
            </a:avLst>
          </a:prstGeom>
          <a:solidFill>
            <a:srgbClr val="0F1826"/>
          </a:solidFill>
          <a:ln/>
        </p:spPr>
      </p:sp>
      <p:sp>
        <p:nvSpPr>
          <p:cNvPr id="3" name="Shape 1"/>
          <p:cNvSpPr/>
          <p:nvPr/>
        </p:nvSpPr>
        <p:spPr>
          <a:xfrm>
            <a:off x="633679" y="513893"/>
            <a:ext cx="181417" cy="181417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4" name="Shape 2"/>
          <p:cNvSpPr/>
          <p:nvPr/>
        </p:nvSpPr>
        <p:spPr>
          <a:xfrm>
            <a:off x="633679" y="683971"/>
            <a:ext cx="181417" cy="18141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633679" y="854050"/>
            <a:ext cx="181417" cy="181417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Signal Control as a Real-Time Sequential MDP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D2E"/>
          </a:solidFill>
          <a:ln w="12700">
            <a:solidFill>
              <a:srgbClr val="2A3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an MDP, not classification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500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 is fundamentally sequential and real-time — not a one-shot classification problem.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D2E"/>
          </a:solidFill>
          <a:ln w="12700">
            <a:solidFill>
              <a:srgbClr val="2A3B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Dyna-Q is the strongest tabular method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3500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sample reuse deliver large gains in a sparse, 6,480-state queueing space.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D2E"/>
          </a:solidFill>
          <a:ln w="12700">
            <a:solidFill>
              <a:srgbClr val="2A3B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13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SARSA is the best model-free choice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2702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Target-variance reduction gives it a clear edge over plain SARSA.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D2E"/>
          </a:solidFill>
          <a:ln w="12700">
            <a:solidFill>
              <a:srgbClr val="2A3B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813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RL shielding is essential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2702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bridges the gap between simulation and real municipal deployment.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77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we welcome questions.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" y="614476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60350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Aarnav Sabherwal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6144768"/>
            <a:ext cx="146304" cy="146304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57016" y="60350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Raj Dhar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61447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54496" y="60350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Niharika Singh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32520" y="6144768"/>
            <a:ext cx="146304" cy="146304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51976" y="60350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Bobby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2026-09-13T09:51:29Z</dcterms:created>
  <dcterms:modified xsi:type="dcterms:W3CDTF">2026-09-13T09:51:29Z</dcterms:modified>
</cp:coreProperties>
</file>